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453359" cy="662391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_Title"/>
          <p:cNvSpPr txBox="1"/>
          <p:nvPr/>
        </p:nvSpPr>
        <p:spPr>
          <a:xfrm>
            <a:off x="356616" y="235092"/>
            <a:ext cx="8149590" cy="2393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50" b="1" i="0">
                <a:solidFill>
                  <a:srgbClr val="17324D"/>
                </a:solidFill>
                <a:latin typeface="Georgia"/>
              </a:rPr>
              <a:t>Overall RADE dual-view processing and detection</a:t>
            </a:r>
          </a:p>
        </p:txBody>
      </p:sp>
      <p:sp>
        <p:nvSpPr>
          <p:cNvPr id="3" name="Header_Subtitle"/>
          <p:cNvSpPr txBox="1"/>
          <p:nvPr/>
        </p:nvSpPr>
        <p:spPr>
          <a:xfrm>
            <a:off x="363702" y="530809"/>
            <a:ext cx="10771632" cy="1830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 i="0">
                <a:solidFill>
                  <a:srgbClr val="687783"/>
                </a:solidFill>
                <a:latin typeface="Georgia"/>
              </a:rPr>
              <a:t>Four-axis radar tensor  →  three-view RAD and RAE cubes  →  independent encoders  →  encoded-feature fusion  →  shared detector</a:t>
            </a:r>
          </a:p>
        </p:txBody>
      </p:sp>
      <p:sp>
        <p:nvSpPr>
          <p:cNvPr id="4" name="Current_Model_Badge"/>
          <p:cNvSpPr/>
          <p:nvPr/>
        </p:nvSpPr>
        <p:spPr>
          <a:xfrm>
            <a:off x="14033754" y="305501"/>
            <a:ext cx="1062990" cy="211226"/>
          </a:xfrm>
          <a:prstGeom prst="roundRect">
            <a:avLst/>
          </a:prstGeom>
          <a:solidFill>
            <a:srgbClr val="E9F3FA"/>
          </a:solidFill>
          <a:ln w="9525"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650" b="1" i="0">
                <a:solidFill>
                  <a:srgbClr val="2474B5"/>
                </a:solidFill>
                <a:latin typeface="Georgia"/>
              </a:rPr>
              <a:t>CURRENT MODEL7</a:t>
            </a:r>
          </a:p>
        </p:txBody>
      </p:sp>
      <p:cxnSp>
        <p:nvCxnSpPr>
          <p:cNvPr id="5" name="Header_Rule"/>
          <p:cNvCxnSpPr/>
          <p:nvPr/>
        </p:nvCxnSpPr>
        <p:spPr>
          <a:xfrm>
            <a:off x="356616" y="882853"/>
            <a:ext cx="14740127" cy="0"/>
          </a:xfrm>
          <a:prstGeom prst="line">
            <a:avLst/>
          </a:prstGeom>
          <a:ln w="11430">
            <a:solidFill>
              <a:srgbClr val="D9E2E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tage_4D_Input"/>
          <p:cNvSpPr txBox="1"/>
          <p:nvPr/>
        </p:nvSpPr>
        <p:spPr>
          <a:xfrm>
            <a:off x="73152" y="1072956"/>
            <a:ext cx="1984248" cy="154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17324D"/>
                </a:solidFill>
                <a:latin typeface="Georgia"/>
              </a:rPr>
              <a:t>4-D INPUT</a:t>
            </a:r>
          </a:p>
        </p:txBody>
      </p:sp>
      <p:sp>
        <p:nvSpPr>
          <p:cNvPr id="7" name="Stage_Multiview_Tensors"/>
          <p:cNvSpPr txBox="1"/>
          <p:nvPr/>
        </p:nvSpPr>
        <p:spPr>
          <a:xfrm>
            <a:off x="3262122" y="1072956"/>
            <a:ext cx="1984248" cy="154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2474B5"/>
                </a:solidFill>
                <a:latin typeface="Georgia"/>
              </a:rPr>
              <a:t>MULTI-VIEW TENSORS</a:t>
            </a:r>
          </a:p>
        </p:txBody>
      </p:sp>
      <p:sp>
        <p:nvSpPr>
          <p:cNvPr id="8" name="Stage_Dual_Encoders"/>
          <p:cNvSpPr txBox="1"/>
          <p:nvPr/>
        </p:nvSpPr>
        <p:spPr>
          <a:xfrm>
            <a:off x="5388102" y="1072956"/>
            <a:ext cx="1984248" cy="154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2474B5"/>
                </a:solidFill>
                <a:latin typeface="Georgia"/>
              </a:rPr>
              <a:t>DUAL ENCODERS</a:t>
            </a:r>
          </a:p>
        </p:txBody>
      </p:sp>
      <p:sp>
        <p:nvSpPr>
          <p:cNvPr id="9" name="Stage_Fusion_Decoding"/>
          <p:cNvSpPr txBox="1"/>
          <p:nvPr/>
        </p:nvSpPr>
        <p:spPr>
          <a:xfrm>
            <a:off x="9285732" y="1072956"/>
            <a:ext cx="1984248" cy="154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6F5AAF"/>
                </a:solidFill>
                <a:latin typeface="Georgia"/>
              </a:rPr>
              <a:t>FUSION + DECODING</a:t>
            </a:r>
          </a:p>
        </p:txBody>
      </p:sp>
      <p:sp>
        <p:nvSpPr>
          <p:cNvPr id="10" name="Stage_Output"/>
          <p:cNvSpPr txBox="1"/>
          <p:nvPr/>
        </p:nvSpPr>
        <p:spPr>
          <a:xfrm>
            <a:off x="12332970" y="1072956"/>
            <a:ext cx="1984248" cy="1548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378E74"/>
                </a:solidFill>
                <a:latin typeface="Georgia"/>
              </a:rPr>
              <a:t>OUTPUT</a:t>
            </a:r>
          </a:p>
        </p:txBody>
      </p:sp>
      <p:sp>
        <p:nvSpPr>
          <p:cNvPr id="11" name="4D_FarCube_Face_1"/>
          <p:cNvSpPr/>
          <p:nvPr/>
        </p:nvSpPr>
        <p:spPr>
          <a:xfrm>
            <a:off x="377875" y="3255629"/>
            <a:ext cx="885825" cy="880110"/>
          </a:xfrm>
          <a:custGeom>
            <a:avLst/>
            <a:gdLst/>
            <a:ahLst/>
            <a:cxnLst/>
            <a:rect l="l" t="t" r="r" b="b"/>
            <a:pathLst>
              <a:path w="885825" h="880110">
                <a:moveTo>
                  <a:pt x="0" y="880110"/>
                </a:moveTo>
                <a:lnTo>
                  <a:pt x="885825" y="880110"/>
                </a:lnTo>
                <a:lnTo>
                  <a:pt x="8858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7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4D_FarCube_Face_2"/>
          <p:cNvSpPr/>
          <p:nvPr/>
        </p:nvSpPr>
        <p:spPr>
          <a:xfrm>
            <a:off x="377875" y="2917667"/>
            <a:ext cx="1183463" cy="337962"/>
          </a:xfrm>
          <a:custGeom>
            <a:avLst/>
            <a:gdLst/>
            <a:ahLst/>
            <a:cxnLst/>
            <a:rect l="l" t="t" r="r" b="b"/>
            <a:pathLst>
              <a:path w="1183463" h="337962">
                <a:moveTo>
                  <a:pt x="0" y="337962"/>
                </a:moveTo>
                <a:lnTo>
                  <a:pt x="885825" y="337962"/>
                </a:lnTo>
                <a:lnTo>
                  <a:pt x="1183463" y="0"/>
                </a:lnTo>
                <a:lnTo>
                  <a:pt x="297637" y="0"/>
                </a:lnTo>
                <a:close/>
              </a:path>
            </a:pathLst>
          </a:custGeom>
          <a:solidFill>
            <a:srgbClr val="D7D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4D_FarCube_Face_3"/>
          <p:cNvSpPr/>
          <p:nvPr/>
        </p:nvSpPr>
        <p:spPr>
          <a:xfrm>
            <a:off x="1263700" y="2917667"/>
            <a:ext cx="297638" cy="1218072"/>
          </a:xfrm>
          <a:custGeom>
            <a:avLst/>
            <a:gdLst/>
            <a:ahLst/>
            <a:cxnLst/>
            <a:rect l="l" t="t" r="r" b="b"/>
            <a:pathLst>
              <a:path w="297638" h="1218072">
                <a:moveTo>
                  <a:pt x="0" y="1218072"/>
                </a:moveTo>
                <a:lnTo>
                  <a:pt x="297638" y="880110"/>
                </a:lnTo>
                <a:lnTo>
                  <a:pt x="297638" y="0"/>
                </a:lnTo>
                <a:lnTo>
                  <a:pt x="0" y="337962"/>
                </a:lnTo>
                <a:close/>
              </a:path>
            </a:pathLst>
          </a:custGeom>
          <a:solidFill>
            <a:srgbClr val="BFC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4D_NearCube_Face_1"/>
          <p:cNvSpPr/>
          <p:nvPr/>
        </p:nvSpPr>
        <p:spPr>
          <a:xfrm>
            <a:off x="675512" y="3593592"/>
            <a:ext cx="885826" cy="880110"/>
          </a:xfrm>
          <a:custGeom>
            <a:avLst/>
            <a:gdLst/>
            <a:ahLst/>
            <a:cxnLst/>
            <a:rect l="l" t="t" r="r" b="b"/>
            <a:pathLst>
              <a:path w="885826" h="880110">
                <a:moveTo>
                  <a:pt x="0" y="880110"/>
                </a:moveTo>
                <a:lnTo>
                  <a:pt x="885826" y="880110"/>
                </a:lnTo>
                <a:lnTo>
                  <a:pt x="885826" y="0"/>
                </a:lnTo>
                <a:lnTo>
                  <a:pt x="0" y="0"/>
                </a:lnTo>
                <a:close/>
              </a:path>
            </a:pathLst>
          </a:custGeom>
          <a:solidFill>
            <a:srgbClr val="E7E9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4D_NearCube_Face_2"/>
          <p:cNvSpPr/>
          <p:nvPr/>
        </p:nvSpPr>
        <p:spPr>
          <a:xfrm>
            <a:off x="675512" y="3255629"/>
            <a:ext cx="1183463" cy="337963"/>
          </a:xfrm>
          <a:custGeom>
            <a:avLst/>
            <a:gdLst/>
            <a:ahLst/>
            <a:cxnLst/>
            <a:rect l="l" t="t" r="r" b="b"/>
            <a:pathLst>
              <a:path w="1183463" h="337963">
                <a:moveTo>
                  <a:pt x="0" y="337963"/>
                </a:moveTo>
                <a:lnTo>
                  <a:pt x="885826" y="337963"/>
                </a:lnTo>
                <a:lnTo>
                  <a:pt x="1183463" y="0"/>
                </a:lnTo>
                <a:lnTo>
                  <a:pt x="297638" y="0"/>
                </a:lnTo>
                <a:close/>
              </a:path>
            </a:pathLst>
          </a:custGeom>
          <a:solidFill>
            <a:srgbClr val="D7DA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4D_NearCube_Face_3"/>
          <p:cNvSpPr/>
          <p:nvPr/>
        </p:nvSpPr>
        <p:spPr>
          <a:xfrm>
            <a:off x="1561338" y="3255629"/>
            <a:ext cx="297637" cy="1218073"/>
          </a:xfrm>
          <a:custGeom>
            <a:avLst/>
            <a:gdLst/>
            <a:ahLst/>
            <a:cxnLst/>
            <a:rect l="l" t="t" r="r" b="b"/>
            <a:pathLst>
              <a:path w="297637" h="1218073">
                <a:moveTo>
                  <a:pt x="0" y="1218073"/>
                </a:moveTo>
                <a:lnTo>
                  <a:pt x="297637" y="880110"/>
                </a:lnTo>
                <a:lnTo>
                  <a:pt x="297637" y="0"/>
                </a:lnTo>
                <a:lnTo>
                  <a:pt x="0" y="337963"/>
                </a:lnTo>
                <a:close/>
              </a:path>
            </a:pathLst>
          </a:custGeom>
          <a:solidFill>
            <a:srgbClr val="BFC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4D_Doppler_Link_01"/>
          <p:cNvCxnSpPr/>
          <p:nvPr/>
        </p:nvCxnSpPr>
        <p:spPr>
          <a:xfrm flipH="1" flipV="1">
            <a:off x="377875" y="4135739"/>
            <a:ext cx="297637" cy="337963"/>
          </a:xfrm>
          <a:prstGeom prst="line">
            <a:avLst/>
          </a:prstGeom>
          <a:ln w="10160">
            <a:solidFill>
              <a:srgbClr val="3349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4D_Doppler_Link_02"/>
          <p:cNvCxnSpPr/>
          <p:nvPr/>
        </p:nvCxnSpPr>
        <p:spPr>
          <a:xfrm flipH="1" flipV="1">
            <a:off x="1263700" y="4135739"/>
            <a:ext cx="297638" cy="337963"/>
          </a:xfrm>
          <a:prstGeom prst="line">
            <a:avLst/>
          </a:prstGeom>
          <a:ln w="10160">
            <a:solidFill>
              <a:srgbClr val="3349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4D_Doppler_Link_03"/>
          <p:cNvCxnSpPr/>
          <p:nvPr/>
        </p:nvCxnSpPr>
        <p:spPr>
          <a:xfrm flipH="1" flipV="1">
            <a:off x="675512" y="3797777"/>
            <a:ext cx="297638" cy="337962"/>
          </a:xfrm>
          <a:prstGeom prst="line">
            <a:avLst/>
          </a:prstGeom>
          <a:ln w="10160">
            <a:solidFill>
              <a:srgbClr val="3349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4D_Doppler_Link_04"/>
          <p:cNvCxnSpPr/>
          <p:nvPr/>
        </p:nvCxnSpPr>
        <p:spPr>
          <a:xfrm flipH="1" flipV="1">
            <a:off x="1561338" y="3797777"/>
            <a:ext cx="297637" cy="337962"/>
          </a:xfrm>
          <a:prstGeom prst="line">
            <a:avLst/>
          </a:prstGeom>
          <a:ln w="10160">
            <a:solidFill>
              <a:srgbClr val="3349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4D_Doppler_Link_05"/>
          <p:cNvCxnSpPr/>
          <p:nvPr/>
        </p:nvCxnSpPr>
        <p:spPr>
          <a:xfrm flipH="1" flipV="1">
            <a:off x="377875" y="3255629"/>
            <a:ext cx="297637" cy="337963"/>
          </a:xfrm>
          <a:prstGeom prst="line">
            <a:avLst/>
          </a:prstGeom>
          <a:ln w="10160">
            <a:solidFill>
              <a:srgbClr val="3349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4D_Doppler_Link_06"/>
          <p:cNvCxnSpPr/>
          <p:nvPr/>
        </p:nvCxnSpPr>
        <p:spPr>
          <a:xfrm flipH="1" flipV="1">
            <a:off x="1263700" y="3255629"/>
            <a:ext cx="297638" cy="337963"/>
          </a:xfrm>
          <a:prstGeom prst="line">
            <a:avLst/>
          </a:prstGeom>
          <a:ln w="10160">
            <a:solidFill>
              <a:srgbClr val="3349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4D_Doppler_Link_07"/>
          <p:cNvCxnSpPr/>
          <p:nvPr/>
        </p:nvCxnSpPr>
        <p:spPr>
          <a:xfrm flipH="1" flipV="1">
            <a:off x="675512" y="2917667"/>
            <a:ext cx="297638" cy="337962"/>
          </a:xfrm>
          <a:prstGeom prst="line">
            <a:avLst/>
          </a:prstGeom>
          <a:ln w="10160">
            <a:solidFill>
              <a:srgbClr val="3349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4D_Doppler_Link_08"/>
          <p:cNvCxnSpPr/>
          <p:nvPr/>
        </p:nvCxnSpPr>
        <p:spPr>
          <a:xfrm flipH="1" flipV="1">
            <a:off x="1561338" y="2917667"/>
            <a:ext cx="297637" cy="337962"/>
          </a:xfrm>
          <a:prstGeom prst="line">
            <a:avLst/>
          </a:prstGeom>
          <a:ln w="10160">
            <a:solidFill>
              <a:srgbClr val="3349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4D_FarCube_Edge_01"/>
          <p:cNvCxnSpPr/>
          <p:nvPr/>
        </p:nvCxnSpPr>
        <p:spPr>
          <a:xfrm>
            <a:off x="377875" y="4135739"/>
            <a:ext cx="885825" cy="0"/>
          </a:xfrm>
          <a:prstGeom prst="line">
            <a:avLst/>
          </a:prstGeom>
          <a:ln w="11430">
            <a:solidFill>
              <a:srgbClr val="33495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4D_FarCube_Edge_02"/>
          <p:cNvCxnSpPr/>
          <p:nvPr/>
        </p:nvCxnSpPr>
        <p:spPr>
          <a:xfrm flipV="1">
            <a:off x="377875" y="3797777"/>
            <a:ext cx="297637" cy="337962"/>
          </a:xfrm>
          <a:prstGeom prst="line">
            <a:avLst/>
          </a:prstGeom>
          <a:ln w="11430">
            <a:solidFill>
              <a:srgbClr val="33495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4D_FarCube_Edge_03"/>
          <p:cNvCxnSpPr/>
          <p:nvPr/>
        </p:nvCxnSpPr>
        <p:spPr>
          <a:xfrm flipV="1">
            <a:off x="377875" y="3255629"/>
            <a:ext cx="0" cy="880110"/>
          </a:xfrm>
          <a:prstGeom prst="line">
            <a:avLst/>
          </a:prstGeom>
          <a:ln w="11430">
            <a:solidFill>
              <a:srgbClr val="33495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4D_FarCube_Edge_04"/>
          <p:cNvCxnSpPr/>
          <p:nvPr/>
        </p:nvCxnSpPr>
        <p:spPr>
          <a:xfrm flipV="1">
            <a:off x="1263700" y="3797777"/>
            <a:ext cx="297638" cy="337962"/>
          </a:xfrm>
          <a:prstGeom prst="line">
            <a:avLst/>
          </a:prstGeom>
          <a:ln w="11430">
            <a:solidFill>
              <a:srgbClr val="33495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4D_FarCube_Edge_05"/>
          <p:cNvCxnSpPr/>
          <p:nvPr/>
        </p:nvCxnSpPr>
        <p:spPr>
          <a:xfrm flipV="1">
            <a:off x="1263700" y="3255629"/>
            <a:ext cx="0" cy="880110"/>
          </a:xfrm>
          <a:prstGeom prst="line">
            <a:avLst/>
          </a:prstGeom>
          <a:ln w="11430">
            <a:solidFill>
              <a:srgbClr val="33495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4D_FarCube_Edge_06"/>
          <p:cNvCxnSpPr/>
          <p:nvPr/>
        </p:nvCxnSpPr>
        <p:spPr>
          <a:xfrm>
            <a:off x="675512" y="3797777"/>
            <a:ext cx="885826" cy="0"/>
          </a:xfrm>
          <a:prstGeom prst="line">
            <a:avLst/>
          </a:prstGeom>
          <a:ln w="11430">
            <a:solidFill>
              <a:srgbClr val="33495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4D_FarCube_Edge_07"/>
          <p:cNvCxnSpPr/>
          <p:nvPr/>
        </p:nvCxnSpPr>
        <p:spPr>
          <a:xfrm flipV="1">
            <a:off x="675512" y="2917667"/>
            <a:ext cx="0" cy="880110"/>
          </a:xfrm>
          <a:prstGeom prst="line">
            <a:avLst/>
          </a:prstGeom>
          <a:ln w="11430">
            <a:solidFill>
              <a:srgbClr val="33495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4D_FarCube_Edge_08"/>
          <p:cNvCxnSpPr/>
          <p:nvPr/>
        </p:nvCxnSpPr>
        <p:spPr>
          <a:xfrm flipV="1">
            <a:off x="1561338" y="2917667"/>
            <a:ext cx="0" cy="880110"/>
          </a:xfrm>
          <a:prstGeom prst="line">
            <a:avLst/>
          </a:prstGeom>
          <a:ln w="11430">
            <a:solidFill>
              <a:srgbClr val="33495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4D_FarCube_Edge_09"/>
          <p:cNvCxnSpPr/>
          <p:nvPr/>
        </p:nvCxnSpPr>
        <p:spPr>
          <a:xfrm>
            <a:off x="377875" y="3255629"/>
            <a:ext cx="885825" cy="0"/>
          </a:xfrm>
          <a:prstGeom prst="line">
            <a:avLst/>
          </a:prstGeom>
          <a:ln w="11430">
            <a:solidFill>
              <a:srgbClr val="33495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4D_FarCube_Edge_10"/>
          <p:cNvCxnSpPr/>
          <p:nvPr/>
        </p:nvCxnSpPr>
        <p:spPr>
          <a:xfrm flipV="1">
            <a:off x="377875" y="2917667"/>
            <a:ext cx="297637" cy="337962"/>
          </a:xfrm>
          <a:prstGeom prst="line">
            <a:avLst/>
          </a:prstGeom>
          <a:ln w="11430">
            <a:solidFill>
              <a:srgbClr val="33495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4D_FarCube_Edge_11"/>
          <p:cNvCxnSpPr/>
          <p:nvPr/>
        </p:nvCxnSpPr>
        <p:spPr>
          <a:xfrm flipV="1">
            <a:off x="1263700" y="2917667"/>
            <a:ext cx="297638" cy="337962"/>
          </a:xfrm>
          <a:prstGeom prst="line">
            <a:avLst/>
          </a:prstGeom>
          <a:ln w="11430">
            <a:solidFill>
              <a:srgbClr val="33495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4D_FarCube_Edge_12"/>
          <p:cNvCxnSpPr/>
          <p:nvPr/>
        </p:nvCxnSpPr>
        <p:spPr>
          <a:xfrm>
            <a:off x="675512" y="2917667"/>
            <a:ext cx="885826" cy="0"/>
          </a:xfrm>
          <a:prstGeom prst="line">
            <a:avLst/>
          </a:prstGeom>
          <a:ln w="11430">
            <a:solidFill>
              <a:srgbClr val="33495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4D_NearCube_Edge_01"/>
          <p:cNvCxnSpPr/>
          <p:nvPr/>
        </p:nvCxnSpPr>
        <p:spPr>
          <a:xfrm>
            <a:off x="675512" y="4473702"/>
            <a:ext cx="885826" cy="0"/>
          </a:xfrm>
          <a:prstGeom prst="line">
            <a:avLst/>
          </a:prstGeom>
          <a:ln w="11430">
            <a:solidFill>
              <a:srgbClr val="33495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4D_NearCube_Edge_02"/>
          <p:cNvCxnSpPr/>
          <p:nvPr/>
        </p:nvCxnSpPr>
        <p:spPr>
          <a:xfrm flipV="1">
            <a:off x="675512" y="4135739"/>
            <a:ext cx="297638" cy="337963"/>
          </a:xfrm>
          <a:prstGeom prst="line">
            <a:avLst/>
          </a:prstGeom>
          <a:ln w="11430">
            <a:solidFill>
              <a:srgbClr val="33495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4D_NearCube_Edge_03"/>
          <p:cNvCxnSpPr/>
          <p:nvPr/>
        </p:nvCxnSpPr>
        <p:spPr>
          <a:xfrm flipV="1">
            <a:off x="675512" y="3593592"/>
            <a:ext cx="0" cy="880110"/>
          </a:xfrm>
          <a:prstGeom prst="line">
            <a:avLst/>
          </a:prstGeom>
          <a:ln w="11430">
            <a:solidFill>
              <a:srgbClr val="33495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4D_NearCube_Edge_04"/>
          <p:cNvCxnSpPr/>
          <p:nvPr/>
        </p:nvCxnSpPr>
        <p:spPr>
          <a:xfrm flipV="1">
            <a:off x="1561338" y="4135739"/>
            <a:ext cx="297637" cy="337963"/>
          </a:xfrm>
          <a:prstGeom prst="line">
            <a:avLst/>
          </a:prstGeom>
          <a:ln w="11430">
            <a:solidFill>
              <a:srgbClr val="33495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4D_NearCube_Edge_05"/>
          <p:cNvCxnSpPr/>
          <p:nvPr/>
        </p:nvCxnSpPr>
        <p:spPr>
          <a:xfrm flipV="1">
            <a:off x="1561338" y="3593592"/>
            <a:ext cx="0" cy="880110"/>
          </a:xfrm>
          <a:prstGeom prst="line">
            <a:avLst/>
          </a:prstGeom>
          <a:ln w="11430">
            <a:solidFill>
              <a:srgbClr val="33495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4D_NearCube_Edge_06"/>
          <p:cNvCxnSpPr/>
          <p:nvPr/>
        </p:nvCxnSpPr>
        <p:spPr>
          <a:xfrm>
            <a:off x="973150" y="4135739"/>
            <a:ext cx="885825" cy="0"/>
          </a:xfrm>
          <a:prstGeom prst="line">
            <a:avLst/>
          </a:prstGeom>
          <a:ln w="11430">
            <a:solidFill>
              <a:srgbClr val="33495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4D_NearCube_Edge_07"/>
          <p:cNvCxnSpPr/>
          <p:nvPr/>
        </p:nvCxnSpPr>
        <p:spPr>
          <a:xfrm flipV="1">
            <a:off x="973150" y="3255629"/>
            <a:ext cx="0" cy="880110"/>
          </a:xfrm>
          <a:prstGeom prst="line">
            <a:avLst/>
          </a:prstGeom>
          <a:ln w="11430">
            <a:solidFill>
              <a:srgbClr val="33495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4D_NearCube_Edge_08"/>
          <p:cNvCxnSpPr/>
          <p:nvPr/>
        </p:nvCxnSpPr>
        <p:spPr>
          <a:xfrm flipV="1">
            <a:off x="1858975" y="3255629"/>
            <a:ext cx="0" cy="880110"/>
          </a:xfrm>
          <a:prstGeom prst="line">
            <a:avLst/>
          </a:prstGeom>
          <a:ln w="11430">
            <a:solidFill>
              <a:srgbClr val="33495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4D_NearCube_Edge_09"/>
          <p:cNvCxnSpPr/>
          <p:nvPr/>
        </p:nvCxnSpPr>
        <p:spPr>
          <a:xfrm>
            <a:off x="675512" y="3593592"/>
            <a:ext cx="885826" cy="0"/>
          </a:xfrm>
          <a:prstGeom prst="line">
            <a:avLst/>
          </a:prstGeom>
          <a:ln w="11430">
            <a:solidFill>
              <a:srgbClr val="33495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4D_NearCube_Edge_10"/>
          <p:cNvCxnSpPr/>
          <p:nvPr/>
        </p:nvCxnSpPr>
        <p:spPr>
          <a:xfrm flipV="1">
            <a:off x="675512" y="3255629"/>
            <a:ext cx="297638" cy="337963"/>
          </a:xfrm>
          <a:prstGeom prst="line">
            <a:avLst/>
          </a:prstGeom>
          <a:ln w="11430">
            <a:solidFill>
              <a:srgbClr val="33495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4D_NearCube_Edge_11"/>
          <p:cNvCxnSpPr/>
          <p:nvPr/>
        </p:nvCxnSpPr>
        <p:spPr>
          <a:xfrm flipV="1">
            <a:off x="1561338" y="3255629"/>
            <a:ext cx="297637" cy="337963"/>
          </a:xfrm>
          <a:prstGeom prst="line">
            <a:avLst/>
          </a:prstGeom>
          <a:ln w="11430">
            <a:solidFill>
              <a:srgbClr val="33495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4D_NearCube_Edge_12"/>
          <p:cNvCxnSpPr/>
          <p:nvPr/>
        </p:nvCxnSpPr>
        <p:spPr>
          <a:xfrm>
            <a:off x="973150" y="3255629"/>
            <a:ext cx="885825" cy="0"/>
          </a:xfrm>
          <a:prstGeom prst="line">
            <a:avLst/>
          </a:prstGeom>
          <a:ln w="11430">
            <a:solidFill>
              <a:srgbClr val="33495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Axis_Azimuth"/>
          <p:cNvCxnSpPr/>
          <p:nvPr/>
        </p:nvCxnSpPr>
        <p:spPr>
          <a:xfrm>
            <a:off x="675512" y="4593396"/>
            <a:ext cx="885826" cy="0"/>
          </a:xfrm>
          <a:prstGeom prst="line">
            <a:avLst/>
          </a:prstGeom>
          <a:ln w="11430">
            <a:solidFill>
              <a:srgbClr val="000000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Label_Azimuth"/>
          <p:cNvSpPr txBox="1"/>
          <p:nvPr/>
        </p:nvSpPr>
        <p:spPr>
          <a:xfrm>
            <a:off x="764095" y="4656764"/>
            <a:ext cx="708660" cy="140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" b="0" i="0">
                <a:solidFill>
                  <a:srgbClr val="000000"/>
                </a:solidFill>
                <a:latin typeface="Georgia"/>
              </a:rPr>
              <a:t>Azimuth</a:t>
            </a:r>
          </a:p>
        </p:txBody>
      </p:sp>
      <p:cxnSp>
        <p:nvCxnSpPr>
          <p:cNvPr id="51" name="Axis_Doppler"/>
          <p:cNvCxnSpPr/>
          <p:nvPr/>
        </p:nvCxnSpPr>
        <p:spPr>
          <a:xfrm flipH="1" flipV="1">
            <a:off x="253860" y="4065330"/>
            <a:ext cx="372046" cy="422453"/>
          </a:xfrm>
          <a:prstGeom prst="line">
            <a:avLst/>
          </a:prstGeom>
          <a:ln w="11430">
            <a:solidFill>
              <a:srgbClr val="000000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Label_Doppler"/>
          <p:cNvSpPr txBox="1"/>
          <p:nvPr/>
        </p:nvSpPr>
        <p:spPr>
          <a:xfrm>
            <a:off x="80238" y="4311761"/>
            <a:ext cx="566928" cy="140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" b="0" i="0">
                <a:solidFill>
                  <a:srgbClr val="000000"/>
                </a:solidFill>
                <a:latin typeface="Georgia"/>
              </a:rPr>
              <a:t>Doppler</a:t>
            </a:r>
          </a:p>
        </p:txBody>
      </p:sp>
      <p:cxnSp>
        <p:nvCxnSpPr>
          <p:cNvPr id="53" name="Axis_Range"/>
          <p:cNvCxnSpPr/>
          <p:nvPr/>
        </p:nvCxnSpPr>
        <p:spPr>
          <a:xfrm flipV="1">
            <a:off x="1639290" y="4100535"/>
            <a:ext cx="403936" cy="457657"/>
          </a:xfrm>
          <a:prstGeom prst="line">
            <a:avLst/>
          </a:prstGeom>
          <a:ln w="11430">
            <a:solidFill>
              <a:srgbClr val="000000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Label_Range"/>
          <p:cNvSpPr txBox="1"/>
          <p:nvPr/>
        </p:nvSpPr>
        <p:spPr>
          <a:xfrm>
            <a:off x="1603857" y="4389211"/>
            <a:ext cx="566928" cy="140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" b="0" i="0">
                <a:solidFill>
                  <a:srgbClr val="000000"/>
                </a:solidFill>
                <a:latin typeface="Georgia"/>
              </a:rPr>
              <a:t>Range</a:t>
            </a:r>
          </a:p>
        </p:txBody>
      </p:sp>
      <p:cxnSp>
        <p:nvCxnSpPr>
          <p:cNvPr id="55" name="Axis_Elevation"/>
          <p:cNvCxnSpPr/>
          <p:nvPr/>
        </p:nvCxnSpPr>
        <p:spPr>
          <a:xfrm flipV="1">
            <a:off x="2099919" y="3262670"/>
            <a:ext cx="0" cy="837865"/>
          </a:xfrm>
          <a:prstGeom prst="line">
            <a:avLst/>
          </a:prstGeom>
          <a:ln w="11430">
            <a:solidFill>
              <a:srgbClr val="000000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Label_Elevation"/>
          <p:cNvSpPr txBox="1"/>
          <p:nvPr/>
        </p:nvSpPr>
        <p:spPr>
          <a:xfrm rot="16200000">
            <a:off x="1816455" y="3607673"/>
            <a:ext cx="850392" cy="140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" b="0" i="0">
                <a:solidFill>
                  <a:srgbClr val="000000"/>
                </a:solidFill>
                <a:latin typeface="Georgia"/>
              </a:rPr>
              <a:t>Elevation</a:t>
            </a:r>
          </a:p>
        </p:txBody>
      </p:sp>
      <p:sp>
        <p:nvSpPr>
          <p:cNvPr id="57" name="Title_4D_RADE"/>
          <p:cNvSpPr txBox="1"/>
          <p:nvPr/>
        </p:nvSpPr>
        <p:spPr>
          <a:xfrm>
            <a:off x="179450" y="2502255"/>
            <a:ext cx="1700784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19" b="1" i="0">
                <a:solidFill>
                  <a:srgbClr val="17324D"/>
                </a:solidFill>
                <a:latin typeface="Georgia"/>
              </a:rPr>
              <a:t>4-D RADE tensor</a:t>
            </a:r>
          </a:p>
        </p:txBody>
      </p:sp>
      <p:cxnSp>
        <p:nvCxnSpPr>
          <p:cNvPr id="58" name="Arrow_Mean_E"/>
          <p:cNvCxnSpPr/>
          <p:nvPr/>
        </p:nvCxnSpPr>
        <p:spPr>
          <a:xfrm>
            <a:off x="2163699" y="2431846"/>
            <a:ext cx="1133856" cy="211227"/>
          </a:xfrm>
          <a:prstGeom prst="line">
            <a:avLst/>
          </a:prstGeom>
          <a:ln w="15240">
            <a:solidFill>
              <a:srgbClr val="2474B5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Label_Mean_E"/>
          <p:cNvSpPr/>
          <p:nvPr/>
        </p:nvSpPr>
        <p:spPr>
          <a:xfrm>
            <a:off x="2447163" y="2107966"/>
            <a:ext cx="566928" cy="13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630" b="1" i="0">
                <a:solidFill>
                  <a:srgbClr val="2474B5"/>
                </a:solidFill>
                <a:latin typeface="Georgia"/>
              </a:rPr>
              <a:t>mean over E</a:t>
            </a:r>
          </a:p>
        </p:txBody>
      </p:sp>
      <p:cxnSp>
        <p:nvCxnSpPr>
          <p:cNvPr id="60" name="Arrow_Mean_D"/>
          <p:cNvCxnSpPr/>
          <p:nvPr/>
        </p:nvCxnSpPr>
        <p:spPr>
          <a:xfrm>
            <a:off x="2163699" y="4156862"/>
            <a:ext cx="1133856" cy="598475"/>
          </a:xfrm>
          <a:prstGeom prst="line">
            <a:avLst/>
          </a:prstGeom>
          <a:ln w="15240">
            <a:solidFill>
              <a:srgbClr val="2474B5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Label_Mean_D"/>
          <p:cNvSpPr/>
          <p:nvPr/>
        </p:nvSpPr>
        <p:spPr>
          <a:xfrm>
            <a:off x="2411730" y="3903390"/>
            <a:ext cx="566928" cy="13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630" b="1" i="0">
                <a:solidFill>
                  <a:srgbClr val="2474B5"/>
                </a:solidFill>
                <a:latin typeface="Georgia"/>
              </a:rPr>
              <a:t>mean over D</a:t>
            </a:r>
          </a:p>
        </p:txBody>
      </p:sp>
      <p:pic>
        <p:nvPicPr>
          <p:cNvPr id="62" name="RAD_AD_Surfac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2988" y="1671431"/>
            <a:ext cx="1877949" cy="337962"/>
          </a:xfrm>
          <a:prstGeom prst="rect">
            <a:avLst/>
          </a:prstGeom>
        </p:spPr>
      </p:pic>
      <p:pic>
        <p:nvPicPr>
          <p:cNvPr id="63" name="RAD_RD_Surfac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009" y="1671431"/>
            <a:ext cx="566928" cy="1605320"/>
          </a:xfrm>
          <a:prstGeom prst="rect">
            <a:avLst/>
          </a:prstGeom>
        </p:spPr>
      </p:pic>
      <p:pic>
        <p:nvPicPr>
          <p:cNvPr id="64" name="RAD_RA_Surfac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2988" y="2009394"/>
            <a:ext cx="1311021" cy="1267358"/>
          </a:xfrm>
          <a:prstGeom prst="rect">
            <a:avLst/>
          </a:prstGeom>
        </p:spPr>
      </p:pic>
      <p:sp>
        <p:nvSpPr>
          <p:cNvPr id="65" name="RAD_Top_Outline"/>
          <p:cNvSpPr/>
          <p:nvPr/>
        </p:nvSpPr>
        <p:spPr>
          <a:xfrm>
            <a:off x="3332988" y="1671431"/>
            <a:ext cx="1877949" cy="337963"/>
          </a:xfrm>
          <a:custGeom>
            <a:avLst/>
            <a:gdLst/>
            <a:ahLst/>
            <a:cxnLst/>
            <a:rect l="l" t="t" r="r" b="b"/>
            <a:pathLst>
              <a:path w="1877949" h="337963">
                <a:moveTo>
                  <a:pt x="0" y="337963"/>
                </a:moveTo>
                <a:lnTo>
                  <a:pt x="1311021" y="337963"/>
                </a:lnTo>
                <a:lnTo>
                  <a:pt x="1877949" y="0"/>
                </a:lnTo>
                <a:lnTo>
                  <a:pt x="566927" y="0"/>
                </a:lnTo>
                <a:close/>
              </a:path>
            </a:pathLst>
          </a:custGeom>
          <a:noFill/>
          <a:ln w="12700">
            <a:solidFill>
              <a:srgbClr val="33495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AD_Side_Outline"/>
          <p:cNvSpPr/>
          <p:nvPr/>
        </p:nvSpPr>
        <p:spPr>
          <a:xfrm>
            <a:off x="4644009" y="1671431"/>
            <a:ext cx="566928" cy="1605321"/>
          </a:xfrm>
          <a:custGeom>
            <a:avLst/>
            <a:gdLst/>
            <a:ahLst/>
            <a:cxnLst/>
            <a:rect l="l" t="t" r="r" b="b"/>
            <a:pathLst>
              <a:path w="566928" h="1605321">
                <a:moveTo>
                  <a:pt x="0" y="1605321"/>
                </a:moveTo>
                <a:lnTo>
                  <a:pt x="566928" y="1267359"/>
                </a:lnTo>
                <a:lnTo>
                  <a:pt x="566928" y="0"/>
                </a:lnTo>
                <a:lnTo>
                  <a:pt x="0" y="337963"/>
                </a:lnTo>
                <a:close/>
              </a:path>
            </a:pathLst>
          </a:custGeom>
          <a:noFill/>
          <a:ln w="12700">
            <a:solidFill>
              <a:srgbClr val="33495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AD_Front_Outline"/>
          <p:cNvSpPr/>
          <p:nvPr/>
        </p:nvSpPr>
        <p:spPr>
          <a:xfrm>
            <a:off x="3332988" y="2009394"/>
            <a:ext cx="1311021" cy="1267358"/>
          </a:xfrm>
          <a:custGeom>
            <a:avLst/>
            <a:gdLst/>
            <a:ahLst/>
            <a:cxnLst/>
            <a:rect l="l" t="t" r="r" b="b"/>
            <a:pathLst>
              <a:path w="1311021" h="1267358">
                <a:moveTo>
                  <a:pt x="0" y="1267358"/>
                </a:moveTo>
                <a:lnTo>
                  <a:pt x="1311021" y="1267358"/>
                </a:lnTo>
                <a:lnTo>
                  <a:pt x="1311021" y="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33495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AD_RA_Label"/>
          <p:cNvSpPr/>
          <p:nvPr/>
        </p:nvSpPr>
        <p:spPr>
          <a:xfrm>
            <a:off x="3836136" y="3111291"/>
            <a:ext cx="304723" cy="11969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34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640" b="1" i="0">
                <a:solidFill>
                  <a:srgbClr val="17324D"/>
                </a:solidFill>
                <a:latin typeface="Georgia"/>
              </a:rPr>
              <a:t>RA view</a:t>
            </a:r>
          </a:p>
        </p:txBody>
      </p:sp>
      <p:sp>
        <p:nvSpPr>
          <p:cNvPr id="69" name="RAD_AD_Label"/>
          <p:cNvSpPr/>
          <p:nvPr/>
        </p:nvSpPr>
        <p:spPr>
          <a:xfrm>
            <a:off x="4041648" y="1787606"/>
            <a:ext cx="354330" cy="11969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34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640" b="1" i="0">
                <a:solidFill>
                  <a:srgbClr val="17324D"/>
                </a:solidFill>
                <a:latin typeface="Georgia"/>
              </a:rPr>
              <a:t>AD view</a:t>
            </a:r>
          </a:p>
        </p:txBody>
      </p:sp>
      <p:sp>
        <p:nvSpPr>
          <p:cNvPr id="70" name="RAD_RD_Label"/>
          <p:cNvSpPr/>
          <p:nvPr/>
        </p:nvSpPr>
        <p:spPr>
          <a:xfrm rot="16200000">
            <a:off x="4842433" y="2593787"/>
            <a:ext cx="354330" cy="11969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34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640" b="1" i="0">
                <a:solidFill>
                  <a:srgbClr val="17324D"/>
                </a:solidFill>
                <a:latin typeface="Georgia"/>
              </a:rPr>
              <a:t>RD view</a:t>
            </a:r>
          </a:p>
        </p:txBody>
      </p:sp>
      <p:sp>
        <p:nvSpPr>
          <p:cNvPr id="71" name="RAD_Title"/>
          <p:cNvSpPr txBox="1"/>
          <p:nvPr/>
        </p:nvSpPr>
        <p:spPr>
          <a:xfrm>
            <a:off x="3634168" y="1407398"/>
            <a:ext cx="1275588" cy="1760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474B5"/>
                </a:solidFill>
                <a:latin typeface="Georgia"/>
              </a:rPr>
              <a:t>RAD tensor</a:t>
            </a:r>
          </a:p>
        </p:txBody>
      </p:sp>
      <p:sp>
        <p:nvSpPr>
          <p:cNvPr id="72" name="RAD_Shape"/>
          <p:cNvSpPr txBox="1"/>
          <p:nvPr/>
        </p:nvSpPr>
        <p:spPr>
          <a:xfrm>
            <a:off x="3563302" y="3368283"/>
            <a:ext cx="850392" cy="140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" b="1" i="0">
                <a:solidFill>
                  <a:srgbClr val="263746"/>
                </a:solidFill>
                <a:latin typeface="Georgia"/>
              </a:rPr>
              <a:t>[R, A, D]</a:t>
            </a:r>
          </a:p>
        </p:txBody>
      </p:sp>
      <p:pic>
        <p:nvPicPr>
          <p:cNvPr id="73" name="RAE_AE_Surfac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2988" y="3783695"/>
            <a:ext cx="1877949" cy="337962"/>
          </a:xfrm>
          <a:prstGeom prst="rect">
            <a:avLst/>
          </a:prstGeom>
        </p:spPr>
      </p:pic>
      <p:pic>
        <p:nvPicPr>
          <p:cNvPr id="74" name="RAE_RE_Surfac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4009" y="3783695"/>
            <a:ext cx="566928" cy="1605320"/>
          </a:xfrm>
          <a:prstGeom prst="rect">
            <a:avLst/>
          </a:prstGeom>
        </p:spPr>
      </p:pic>
      <p:pic>
        <p:nvPicPr>
          <p:cNvPr id="75" name="RAE_RA_Surfac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2988" y="4121658"/>
            <a:ext cx="1311021" cy="1267358"/>
          </a:xfrm>
          <a:prstGeom prst="rect">
            <a:avLst/>
          </a:prstGeom>
        </p:spPr>
      </p:pic>
      <p:sp>
        <p:nvSpPr>
          <p:cNvPr id="76" name="RAE_Top_Outline"/>
          <p:cNvSpPr/>
          <p:nvPr/>
        </p:nvSpPr>
        <p:spPr>
          <a:xfrm>
            <a:off x="3332988" y="3783695"/>
            <a:ext cx="1877949" cy="337963"/>
          </a:xfrm>
          <a:custGeom>
            <a:avLst/>
            <a:gdLst/>
            <a:ahLst/>
            <a:cxnLst/>
            <a:rect l="l" t="t" r="r" b="b"/>
            <a:pathLst>
              <a:path w="1877949" h="337963">
                <a:moveTo>
                  <a:pt x="0" y="337963"/>
                </a:moveTo>
                <a:lnTo>
                  <a:pt x="1311021" y="337963"/>
                </a:lnTo>
                <a:lnTo>
                  <a:pt x="1877949" y="0"/>
                </a:lnTo>
                <a:lnTo>
                  <a:pt x="566927" y="0"/>
                </a:lnTo>
                <a:close/>
              </a:path>
            </a:pathLst>
          </a:custGeom>
          <a:noFill/>
          <a:ln w="12700">
            <a:solidFill>
              <a:srgbClr val="33495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AE_Side_Outline"/>
          <p:cNvSpPr/>
          <p:nvPr/>
        </p:nvSpPr>
        <p:spPr>
          <a:xfrm>
            <a:off x="4644009" y="3783695"/>
            <a:ext cx="566928" cy="1605321"/>
          </a:xfrm>
          <a:custGeom>
            <a:avLst/>
            <a:gdLst/>
            <a:ahLst/>
            <a:cxnLst/>
            <a:rect l="l" t="t" r="r" b="b"/>
            <a:pathLst>
              <a:path w="566928" h="1605321">
                <a:moveTo>
                  <a:pt x="0" y="1605321"/>
                </a:moveTo>
                <a:lnTo>
                  <a:pt x="566928" y="1267359"/>
                </a:lnTo>
                <a:lnTo>
                  <a:pt x="566928" y="0"/>
                </a:lnTo>
                <a:lnTo>
                  <a:pt x="0" y="337963"/>
                </a:lnTo>
                <a:close/>
              </a:path>
            </a:pathLst>
          </a:custGeom>
          <a:noFill/>
          <a:ln w="12700">
            <a:solidFill>
              <a:srgbClr val="33495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AE_Front_Outline"/>
          <p:cNvSpPr/>
          <p:nvPr/>
        </p:nvSpPr>
        <p:spPr>
          <a:xfrm>
            <a:off x="3332988" y="4121658"/>
            <a:ext cx="1311021" cy="1267358"/>
          </a:xfrm>
          <a:custGeom>
            <a:avLst/>
            <a:gdLst/>
            <a:ahLst/>
            <a:cxnLst/>
            <a:rect l="l" t="t" r="r" b="b"/>
            <a:pathLst>
              <a:path w="1311021" h="1267358">
                <a:moveTo>
                  <a:pt x="0" y="1267358"/>
                </a:moveTo>
                <a:lnTo>
                  <a:pt x="1311021" y="1267358"/>
                </a:lnTo>
                <a:lnTo>
                  <a:pt x="1311021" y="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33495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AE_RA_Label"/>
          <p:cNvSpPr/>
          <p:nvPr/>
        </p:nvSpPr>
        <p:spPr>
          <a:xfrm>
            <a:off x="3836136" y="5223555"/>
            <a:ext cx="304723" cy="11969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34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640" b="1" i="0">
                <a:solidFill>
                  <a:srgbClr val="17324D"/>
                </a:solidFill>
                <a:latin typeface="Georgia"/>
              </a:rPr>
              <a:t>RA view</a:t>
            </a:r>
          </a:p>
        </p:txBody>
      </p:sp>
      <p:sp>
        <p:nvSpPr>
          <p:cNvPr id="80" name="RAE_AE_Label"/>
          <p:cNvSpPr/>
          <p:nvPr/>
        </p:nvSpPr>
        <p:spPr>
          <a:xfrm>
            <a:off x="4041648" y="3899870"/>
            <a:ext cx="354330" cy="11969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34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640" b="1" i="0">
                <a:solidFill>
                  <a:srgbClr val="17324D"/>
                </a:solidFill>
                <a:latin typeface="Georgia"/>
              </a:rPr>
              <a:t>AE view</a:t>
            </a:r>
          </a:p>
        </p:txBody>
      </p:sp>
      <p:sp>
        <p:nvSpPr>
          <p:cNvPr id="81" name="RAE_RE_Label"/>
          <p:cNvSpPr/>
          <p:nvPr/>
        </p:nvSpPr>
        <p:spPr>
          <a:xfrm rot="16200000">
            <a:off x="4842433" y="4706051"/>
            <a:ext cx="354330" cy="11969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34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640" b="1" i="0">
                <a:solidFill>
                  <a:srgbClr val="17324D"/>
                </a:solidFill>
                <a:latin typeface="Georgia"/>
              </a:rPr>
              <a:t>RE view</a:t>
            </a:r>
          </a:p>
        </p:txBody>
      </p:sp>
      <p:sp>
        <p:nvSpPr>
          <p:cNvPr id="82" name="RAE_Title"/>
          <p:cNvSpPr txBox="1"/>
          <p:nvPr/>
        </p:nvSpPr>
        <p:spPr>
          <a:xfrm>
            <a:off x="3634168" y="3519662"/>
            <a:ext cx="1275588" cy="1760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474B5"/>
                </a:solidFill>
                <a:latin typeface="Georgia"/>
              </a:rPr>
              <a:t>RAE tensor</a:t>
            </a:r>
          </a:p>
        </p:txBody>
      </p:sp>
      <p:sp>
        <p:nvSpPr>
          <p:cNvPr id="83" name="RAE_Shape"/>
          <p:cNvSpPr txBox="1"/>
          <p:nvPr/>
        </p:nvSpPr>
        <p:spPr>
          <a:xfrm>
            <a:off x="3563302" y="5480547"/>
            <a:ext cx="850392" cy="140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20" b="1" i="0">
                <a:solidFill>
                  <a:srgbClr val="263746"/>
                </a:solidFill>
                <a:latin typeface="Georgia"/>
              </a:rPr>
              <a:t>[R, A, E]</a:t>
            </a:r>
          </a:p>
        </p:txBody>
      </p:sp>
      <p:cxnSp>
        <p:nvCxnSpPr>
          <p:cNvPr id="84" name="Arrow_RAD_to_Encoder"/>
          <p:cNvCxnSpPr/>
          <p:nvPr/>
        </p:nvCxnSpPr>
        <p:spPr>
          <a:xfrm>
            <a:off x="5232196" y="2643073"/>
            <a:ext cx="333071" cy="0"/>
          </a:xfrm>
          <a:prstGeom prst="line">
            <a:avLst/>
          </a:prstGeom>
          <a:ln w="15240">
            <a:solidFill>
              <a:srgbClr val="2474B5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Arrow_RAE_to_Encoder"/>
          <p:cNvCxnSpPr/>
          <p:nvPr/>
        </p:nvCxnSpPr>
        <p:spPr>
          <a:xfrm>
            <a:off x="5232196" y="4755337"/>
            <a:ext cx="333071" cy="0"/>
          </a:xfrm>
          <a:prstGeom prst="line">
            <a:avLst/>
          </a:prstGeom>
          <a:ln w="15240">
            <a:solidFill>
              <a:srgbClr val="2474B5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AD_Encoder_Block"/>
          <p:cNvSpPr/>
          <p:nvPr/>
        </p:nvSpPr>
        <p:spPr>
          <a:xfrm>
            <a:off x="5600700" y="2009394"/>
            <a:ext cx="1559052" cy="1267358"/>
          </a:xfrm>
          <a:custGeom>
            <a:avLst/>
            <a:gdLst/>
            <a:ahLst/>
            <a:cxnLst/>
            <a:rect l="l" t="t" r="r" b="b"/>
            <a:pathLst>
              <a:path w="1559052" h="1267358">
                <a:moveTo>
                  <a:pt x="0" y="1267358"/>
                </a:moveTo>
                <a:lnTo>
                  <a:pt x="1559052" y="1042050"/>
                </a:lnTo>
                <a:lnTo>
                  <a:pt x="1559052" y="225308"/>
                </a:lnTo>
                <a:lnTo>
                  <a:pt x="0" y="0"/>
                </a:lnTo>
                <a:close/>
              </a:path>
            </a:pathLst>
          </a:custGeom>
          <a:solidFill>
            <a:srgbClr val="E9F3FA"/>
          </a:solidFill>
          <a:ln w="14604">
            <a:solidFill>
              <a:srgbClr val="2474B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RAD_Encoder_Stage_1"/>
          <p:cNvCxnSpPr/>
          <p:nvPr/>
        </p:nvCxnSpPr>
        <p:spPr>
          <a:xfrm flipV="1">
            <a:off x="5990463" y="2065721"/>
            <a:ext cx="0" cy="1154704"/>
          </a:xfrm>
          <a:prstGeom prst="line">
            <a:avLst/>
          </a:prstGeom>
          <a:ln w="5715">
            <a:solidFill>
              <a:srgbClr val="2474B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RAD_Encoder_Stage_2"/>
          <p:cNvCxnSpPr/>
          <p:nvPr/>
        </p:nvCxnSpPr>
        <p:spPr>
          <a:xfrm flipV="1">
            <a:off x="6380226" y="2122048"/>
            <a:ext cx="0" cy="1042050"/>
          </a:xfrm>
          <a:prstGeom prst="line">
            <a:avLst/>
          </a:prstGeom>
          <a:ln w="5715">
            <a:solidFill>
              <a:srgbClr val="2474B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RAD_Encoder_Stage_3"/>
          <p:cNvCxnSpPr/>
          <p:nvPr/>
        </p:nvCxnSpPr>
        <p:spPr>
          <a:xfrm flipV="1">
            <a:off x="6769989" y="2178375"/>
            <a:ext cx="0" cy="929396"/>
          </a:xfrm>
          <a:prstGeom prst="line">
            <a:avLst/>
          </a:prstGeom>
          <a:ln w="5715">
            <a:solidFill>
              <a:srgbClr val="2474B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AD_Encoder_Title"/>
          <p:cNvSpPr txBox="1"/>
          <p:nvPr/>
        </p:nvSpPr>
        <p:spPr>
          <a:xfrm>
            <a:off x="5735345" y="2477612"/>
            <a:ext cx="1204722" cy="1760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474B5"/>
                </a:solidFill>
                <a:latin typeface="Georgia"/>
              </a:rPr>
              <a:t>RAD encoder</a:t>
            </a:r>
          </a:p>
        </p:txBody>
      </p:sp>
      <p:sp>
        <p:nvSpPr>
          <p:cNvPr id="91" name="RAD_Encoder_Subtitle"/>
          <p:cNvSpPr txBox="1"/>
          <p:nvPr/>
        </p:nvSpPr>
        <p:spPr>
          <a:xfrm>
            <a:off x="5912510" y="2734604"/>
            <a:ext cx="850392" cy="140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63746"/>
                </a:solidFill>
                <a:latin typeface="Georgia"/>
              </a:rPr>
              <a:t>Swin–FPN</a:t>
            </a:r>
          </a:p>
        </p:txBody>
      </p:sp>
      <p:sp>
        <p:nvSpPr>
          <p:cNvPr id="92" name="RAE_Encoder_Block"/>
          <p:cNvSpPr/>
          <p:nvPr/>
        </p:nvSpPr>
        <p:spPr>
          <a:xfrm>
            <a:off x="5600700" y="4121658"/>
            <a:ext cx="1559052" cy="1267358"/>
          </a:xfrm>
          <a:custGeom>
            <a:avLst/>
            <a:gdLst/>
            <a:ahLst/>
            <a:cxnLst/>
            <a:rect l="l" t="t" r="r" b="b"/>
            <a:pathLst>
              <a:path w="1559052" h="1267358">
                <a:moveTo>
                  <a:pt x="0" y="1267358"/>
                </a:moveTo>
                <a:lnTo>
                  <a:pt x="1559052" y="1042050"/>
                </a:lnTo>
                <a:lnTo>
                  <a:pt x="1559052" y="225308"/>
                </a:lnTo>
                <a:lnTo>
                  <a:pt x="0" y="0"/>
                </a:lnTo>
                <a:close/>
              </a:path>
            </a:pathLst>
          </a:custGeom>
          <a:solidFill>
            <a:srgbClr val="E9F3FA"/>
          </a:solidFill>
          <a:ln w="14604">
            <a:solidFill>
              <a:srgbClr val="2474B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RAE_Encoder_Stage_1"/>
          <p:cNvCxnSpPr/>
          <p:nvPr/>
        </p:nvCxnSpPr>
        <p:spPr>
          <a:xfrm flipV="1">
            <a:off x="5990463" y="4177985"/>
            <a:ext cx="0" cy="1154704"/>
          </a:xfrm>
          <a:prstGeom prst="line">
            <a:avLst/>
          </a:prstGeom>
          <a:ln w="5715">
            <a:solidFill>
              <a:srgbClr val="2474B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RAE_Encoder_Stage_2"/>
          <p:cNvCxnSpPr/>
          <p:nvPr/>
        </p:nvCxnSpPr>
        <p:spPr>
          <a:xfrm flipV="1">
            <a:off x="6380226" y="4234312"/>
            <a:ext cx="0" cy="1042050"/>
          </a:xfrm>
          <a:prstGeom prst="line">
            <a:avLst/>
          </a:prstGeom>
          <a:ln w="5715">
            <a:solidFill>
              <a:srgbClr val="2474B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RAE_Encoder_Stage_3"/>
          <p:cNvCxnSpPr/>
          <p:nvPr/>
        </p:nvCxnSpPr>
        <p:spPr>
          <a:xfrm flipV="1">
            <a:off x="6769989" y="4290639"/>
            <a:ext cx="0" cy="929396"/>
          </a:xfrm>
          <a:prstGeom prst="line">
            <a:avLst/>
          </a:prstGeom>
          <a:ln w="5715">
            <a:solidFill>
              <a:srgbClr val="2474B5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AE_Encoder_Title"/>
          <p:cNvSpPr txBox="1"/>
          <p:nvPr/>
        </p:nvSpPr>
        <p:spPr>
          <a:xfrm>
            <a:off x="5735345" y="4589876"/>
            <a:ext cx="1204722" cy="1760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474B5"/>
                </a:solidFill>
                <a:latin typeface="Georgia"/>
              </a:rPr>
              <a:t>RAE encoder</a:t>
            </a:r>
          </a:p>
        </p:txBody>
      </p:sp>
      <p:sp>
        <p:nvSpPr>
          <p:cNvPr id="97" name="RAE_Encoder_Subtitle"/>
          <p:cNvSpPr txBox="1"/>
          <p:nvPr/>
        </p:nvSpPr>
        <p:spPr>
          <a:xfrm>
            <a:off x="5912510" y="4846868"/>
            <a:ext cx="850392" cy="140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63746"/>
                </a:solidFill>
                <a:latin typeface="Georgia"/>
              </a:rPr>
              <a:t>Swin–FPN</a:t>
            </a:r>
          </a:p>
        </p:txBody>
      </p:sp>
      <p:sp>
        <p:nvSpPr>
          <p:cNvPr id="98" name="Independent_Weights"/>
          <p:cNvSpPr txBox="1"/>
          <p:nvPr/>
        </p:nvSpPr>
        <p:spPr>
          <a:xfrm>
            <a:off x="5813298" y="3452774"/>
            <a:ext cx="1133856" cy="140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1">
                <a:solidFill>
                  <a:srgbClr val="687783"/>
                </a:solidFill>
                <a:latin typeface="Georgia"/>
              </a:rPr>
              <a:t>independent weights</a:t>
            </a:r>
          </a:p>
        </p:txBody>
      </p:sp>
      <p:cxnSp>
        <p:nvCxnSpPr>
          <p:cNvPr id="99" name="Arrow_RAD_Encoder_to_Fusion"/>
          <p:cNvCxnSpPr/>
          <p:nvPr/>
        </p:nvCxnSpPr>
        <p:spPr>
          <a:xfrm>
            <a:off x="7181011" y="2643073"/>
            <a:ext cx="864566" cy="422453"/>
          </a:xfrm>
          <a:prstGeom prst="line">
            <a:avLst/>
          </a:prstGeom>
          <a:ln w="15240">
            <a:solidFill>
              <a:srgbClr val="2474B5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Arrow_RAE_Encoder_to_Fusion"/>
          <p:cNvCxnSpPr/>
          <p:nvPr/>
        </p:nvCxnSpPr>
        <p:spPr>
          <a:xfrm flipV="1">
            <a:off x="7181011" y="3769613"/>
            <a:ext cx="864566" cy="985724"/>
          </a:xfrm>
          <a:prstGeom prst="line">
            <a:avLst/>
          </a:prstGeom>
          <a:ln w="15240">
            <a:solidFill>
              <a:srgbClr val="2474B5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Fusion_Latent_Slab_1"/>
          <p:cNvSpPr/>
          <p:nvPr/>
        </p:nvSpPr>
        <p:spPr>
          <a:xfrm>
            <a:off x="8166049" y="2474092"/>
            <a:ext cx="914171" cy="1717974"/>
          </a:xfrm>
          <a:custGeom>
            <a:avLst/>
            <a:gdLst/>
            <a:ahLst/>
            <a:cxnLst/>
            <a:rect l="l" t="t" r="r" b="b"/>
            <a:pathLst>
              <a:path w="914171" h="1717974">
                <a:moveTo>
                  <a:pt x="0" y="1717974"/>
                </a:moveTo>
                <a:lnTo>
                  <a:pt x="744093" y="1717974"/>
                </a:lnTo>
                <a:lnTo>
                  <a:pt x="914171" y="1548993"/>
                </a:lnTo>
                <a:lnTo>
                  <a:pt x="914171" y="0"/>
                </a:lnTo>
                <a:lnTo>
                  <a:pt x="170078" y="0"/>
                </a:lnTo>
                <a:lnTo>
                  <a:pt x="0" y="168981"/>
                </a:lnTo>
                <a:close/>
              </a:path>
            </a:pathLst>
          </a:custGeom>
          <a:solidFill>
            <a:srgbClr val="E9F3FA"/>
          </a:solidFill>
          <a:ln w="10795">
            <a:solidFill>
              <a:srgbClr val="2474B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usion_Latent_Slab_2"/>
          <p:cNvSpPr/>
          <p:nvPr/>
        </p:nvSpPr>
        <p:spPr>
          <a:xfrm>
            <a:off x="8123529" y="2523378"/>
            <a:ext cx="914172" cy="1717974"/>
          </a:xfrm>
          <a:custGeom>
            <a:avLst/>
            <a:gdLst/>
            <a:ahLst/>
            <a:cxnLst/>
            <a:rect l="l" t="t" r="r" b="b"/>
            <a:pathLst>
              <a:path w="914172" h="1717974">
                <a:moveTo>
                  <a:pt x="0" y="1717974"/>
                </a:moveTo>
                <a:lnTo>
                  <a:pt x="744093" y="1717974"/>
                </a:lnTo>
                <a:lnTo>
                  <a:pt x="914172" y="1548993"/>
                </a:lnTo>
                <a:lnTo>
                  <a:pt x="914172" y="0"/>
                </a:lnTo>
                <a:lnTo>
                  <a:pt x="170079" y="0"/>
                </a:lnTo>
                <a:lnTo>
                  <a:pt x="0" y="168981"/>
                </a:lnTo>
                <a:close/>
              </a:path>
            </a:pathLst>
          </a:custGeom>
          <a:solidFill>
            <a:srgbClr val="E9F3FA"/>
          </a:solidFill>
          <a:ln w="10795">
            <a:solidFill>
              <a:srgbClr val="2474B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usion_Latent_Slab_3"/>
          <p:cNvSpPr/>
          <p:nvPr/>
        </p:nvSpPr>
        <p:spPr>
          <a:xfrm>
            <a:off x="8081010" y="2579705"/>
            <a:ext cx="914171" cy="1717975"/>
          </a:xfrm>
          <a:custGeom>
            <a:avLst/>
            <a:gdLst/>
            <a:ahLst/>
            <a:cxnLst/>
            <a:rect l="l" t="t" r="r" b="b"/>
            <a:pathLst>
              <a:path w="914171" h="1717975">
                <a:moveTo>
                  <a:pt x="0" y="1717975"/>
                </a:moveTo>
                <a:lnTo>
                  <a:pt x="744093" y="1717975"/>
                </a:lnTo>
                <a:lnTo>
                  <a:pt x="914171" y="1548993"/>
                </a:lnTo>
                <a:lnTo>
                  <a:pt x="914171" y="0"/>
                </a:lnTo>
                <a:lnTo>
                  <a:pt x="170078" y="0"/>
                </a:lnTo>
                <a:lnTo>
                  <a:pt x="0" y="168981"/>
                </a:lnTo>
                <a:close/>
              </a:path>
            </a:pathLst>
          </a:custGeom>
          <a:solidFill>
            <a:srgbClr val="F0EDF8"/>
          </a:solidFill>
          <a:ln w="10795">
            <a:solidFill>
              <a:srgbClr val="6F5AA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usion_Label"/>
          <p:cNvSpPr txBox="1"/>
          <p:nvPr/>
        </p:nvSpPr>
        <p:spPr>
          <a:xfrm>
            <a:off x="8116443" y="3333079"/>
            <a:ext cx="673227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60" b="1" i="0">
                <a:solidFill>
                  <a:srgbClr val="6F5AAF"/>
                </a:solidFill>
                <a:latin typeface="Georgia"/>
              </a:rPr>
              <a:t>encoded
concat + fusion</a:t>
            </a:r>
          </a:p>
        </p:txBody>
      </p:sp>
      <p:sp>
        <p:nvSpPr>
          <p:cNvPr id="105" name="Fusion_Subtitle"/>
          <p:cNvSpPr txBox="1"/>
          <p:nvPr/>
        </p:nvSpPr>
        <p:spPr>
          <a:xfrm>
            <a:off x="8098726" y="4396252"/>
            <a:ext cx="708660" cy="140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6F5AAF"/>
                </a:solidFill>
                <a:latin typeface="Georgia"/>
              </a:rPr>
              <a:t>shared latent</a:t>
            </a:r>
          </a:p>
        </p:txBody>
      </p:sp>
      <p:cxnSp>
        <p:nvCxnSpPr>
          <p:cNvPr id="106" name="Arrow_Fusion_to_Decoder"/>
          <p:cNvCxnSpPr/>
          <p:nvPr/>
        </p:nvCxnSpPr>
        <p:spPr>
          <a:xfrm>
            <a:off x="9037701" y="3523183"/>
            <a:ext cx="496062" cy="0"/>
          </a:xfrm>
          <a:prstGeom prst="line">
            <a:avLst/>
          </a:prstGeom>
          <a:ln w="16510">
            <a:solidFill>
              <a:srgbClr val="6F5AAF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CenterPoint_Decoder_Block"/>
          <p:cNvSpPr/>
          <p:nvPr/>
        </p:nvSpPr>
        <p:spPr>
          <a:xfrm>
            <a:off x="9569196" y="2643073"/>
            <a:ext cx="1559052" cy="1760220"/>
          </a:xfrm>
          <a:custGeom>
            <a:avLst/>
            <a:gdLst/>
            <a:ahLst/>
            <a:cxnLst/>
            <a:rect l="l" t="t" r="r" b="b"/>
            <a:pathLst>
              <a:path w="1559052" h="1760220">
                <a:moveTo>
                  <a:pt x="0" y="1443380"/>
                </a:moveTo>
                <a:lnTo>
                  <a:pt x="1559052" y="1760220"/>
                </a:lnTo>
                <a:lnTo>
                  <a:pt x="1559052" y="0"/>
                </a:lnTo>
                <a:lnTo>
                  <a:pt x="0" y="316839"/>
                </a:lnTo>
                <a:close/>
              </a:path>
            </a:pathLst>
          </a:custGeom>
          <a:solidFill>
            <a:srgbClr val="F0EDF8"/>
          </a:solidFill>
          <a:ln w="15240">
            <a:solidFill>
              <a:srgbClr val="6F5AA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Decoder_Stage_1"/>
          <p:cNvCxnSpPr/>
          <p:nvPr/>
        </p:nvCxnSpPr>
        <p:spPr>
          <a:xfrm flipV="1">
            <a:off x="9958959" y="2880702"/>
            <a:ext cx="0" cy="1284961"/>
          </a:xfrm>
          <a:prstGeom prst="line">
            <a:avLst/>
          </a:prstGeom>
          <a:ln w="5715">
            <a:solidFill>
              <a:srgbClr val="6F5AA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Decoder_Stage_2"/>
          <p:cNvCxnSpPr/>
          <p:nvPr/>
        </p:nvCxnSpPr>
        <p:spPr>
          <a:xfrm flipV="1">
            <a:off x="10348722" y="2801493"/>
            <a:ext cx="0" cy="1443380"/>
          </a:xfrm>
          <a:prstGeom prst="line">
            <a:avLst/>
          </a:prstGeom>
          <a:ln w="5715">
            <a:solidFill>
              <a:srgbClr val="6F5AA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Decoder_Stage_3"/>
          <p:cNvCxnSpPr/>
          <p:nvPr/>
        </p:nvCxnSpPr>
        <p:spPr>
          <a:xfrm flipV="1">
            <a:off x="10738485" y="2722283"/>
            <a:ext cx="0" cy="1601800"/>
          </a:xfrm>
          <a:prstGeom prst="line">
            <a:avLst/>
          </a:prstGeom>
          <a:ln w="5715">
            <a:solidFill>
              <a:srgbClr val="6F5AA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Decoder_Title"/>
          <p:cNvSpPr txBox="1"/>
          <p:nvPr/>
        </p:nvSpPr>
        <p:spPr>
          <a:xfrm>
            <a:off x="9781794" y="3238027"/>
            <a:ext cx="1133856" cy="1760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80" b="1" i="0">
                <a:solidFill>
                  <a:srgbClr val="6F5AAF"/>
                </a:solidFill>
                <a:latin typeface="Georgia"/>
              </a:rPr>
              <a:t>CenterPoint</a:t>
            </a:r>
          </a:p>
        </p:txBody>
      </p:sp>
      <p:sp>
        <p:nvSpPr>
          <p:cNvPr id="112" name="Decoder_Subtitle"/>
          <p:cNvSpPr txBox="1"/>
          <p:nvPr/>
        </p:nvSpPr>
        <p:spPr>
          <a:xfrm>
            <a:off x="9923526" y="3512621"/>
            <a:ext cx="850392" cy="1619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6F5AAF"/>
                </a:solidFill>
                <a:latin typeface="Georgia"/>
              </a:rPr>
              <a:t>decoder</a:t>
            </a:r>
          </a:p>
        </p:txBody>
      </p:sp>
      <p:sp>
        <p:nvSpPr>
          <p:cNvPr id="113" name="Decoder_Detail"/>
          <p:cNvSpPr txBox="1"/>
          <p:nvPr/>
        </p:nvSpPr>
        <p:spPr>
          <a:xfrm>
            <a:off x="9710928" y="3804818"/>
            <a:ext cx="1275588" cy="140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40" b="0" i="0">
                <a:solidFill>
                  <a:srgbClr val="263746"/>
                </a:solidFill>
                <a:latin typeface="Georgia"/>
              </a:rPr>
              <a:t>heatmap + box regression</a:t>
            </a:r>
          </a:p>
        </p:txBody>
      </p:sp>
      <p:cxnSp>
        <p:nvCxnSpPr>
          <p:cNvPr id="114" name="Arrow_Decode"/>
          <p:cNvCxnSpPr/>
          <p:nvPr/>
        </p:nvCxnSpPr>
        <p:spPr>
          <a:xfrm>
            <a:off x="11163681" y="3523183"/>
            <a:ext cx="1346454" cy="0"/>
          </a:xfrm>
          <a:prstGeom prst="line">
            <a:avLst/>
          </a:prstGeom>
          <a:ln w="15240">
            <a:solidFill>
              <a:srgbClr val="2474B5"/>
            </a:solidFill>
            <a:prstDash val="solid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Decode_Label"/>
          <p:cNvSpPr/>
          <p:nvPr/>
        </p:nvSpPr>
        <p:spPr>
          <a:xfrm>
            <a:off x="11645569" y="3248588"/>
            <a:ext cx="382676" cy="13377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630" b="1" i="0">
                <a:solidFill>
                  <a:srgbClr val="2474B5"/>
                </a:solidFill>
                <a:latin typeface="Georgia"/>
              </a:rPr>
              <a:t>decode</a:t>
            </a:r>
          </a:p>
        </p:txBody>
      </p:sp>
      <p:sp>
        <p:nvSpPr>
          <p:cNvPr id="116" name="Detection_Output_Card"/>
          <p:cNvSpPr/>
          <p:nvPr/>
        </p:nvSpPr>
        <p:spPr>
          <a:xfrm>
            <a:off x="12545568" y="2502255"/>
            <a:ext cx="1488186" cy="2041855"/>
          </a:xfrm>
          <a:prstGeom prst="roundRect">
            <a:avLst/>
          </a:prstGeom>
          <a:solidFill>
            <a:srgbClr val="EAF5F0"/>
          </a:solidFill>
          <a:ln w="13970">
            <a:solidFill>
              <a:srgbClr val="378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utput_Title"/>
          <p:cNvSpPr txBox="1"/>
          <p:nvPr/>
        </p:nvSpPr>
        <p:spPr>
          <a:xfrm>
            <a:off x="12651867" y="2639552"/>
            <a:ext cx="1275588" cy="1760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378E74"/>
                </a:solidFill>
                <a:latin typeface="Georgia"/>
              </a:rPr>
              <a:t>Detection output</a:t>
            </a:r>
          </a:p>
        </p:txBody>
      </p:sp>
      <p:sp>
        <p:nvSpPr>
          <p:cNvPr id="118" name="Output_Placeholder"/>
          <p:cNvSpPr txBox="1"/>
          <p:nvPr/>
        </p:nvSpPr>
        <p:spPr>
          <a:xfrm>
            <a:off x="12864465" y="2861340"/>
            <a:ext cx="850392" cy="140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687783"/>
                </a:solidFill>
                <a:latin typeface="Georgia"/>
              </a:rPr>
              <a:t>placeholder</a:t>
            </a:r>
          </a:p>
        </p:txBody>
      </p:sp>
      <p:sp>
        <p:nvSpPr>
          <p:cNvPr id="119" name="Output_BEV_Plane"/>
          <p:cNvSpPr/>
          <p:nvPr/>
        </p:nvSpPr>
        <p:spPr>
          <a:xfrm>
            <a:off x="12914071" y="3685123"/>
            <a:ext cx="942518" cy="457657"/>
          </a:xfrm>
          <a:custGeom>
            <a:avLst/>
            <a:gdLst/>
            <a:ahLst/>
            <a:cxnLst/>
            <a:rect l="l" t="t" r="r" b="b"/>
            <a:pathLst>
              <a:path w="942518" h="457657">
                <a:moveTo>
                  <a:pt x="0" y="239390"/>
                </a:moveTo>
                <a:lnTo>
                  <a:pt x="623621" y="0"/>
                </a:lnTo>
                <a:lnTo>
                  <a:pt x="942518" y="225308"/>
                </a:lnTo>
                <a:lnTo>
                  <a:pt x="318897" y="457657"/>
                </a:lnTo>
                <a:close/>
              </a:path>
            </a:pathLst>
          </a:custGeom>
          <a:solidFill>
            <a:srgbClr val="FFFFFF"/>
          </a:solidFill>
          <a:ln w="10160">
            <a:solidFill>
              <a:srgbClr val="378E7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utput_Box_Ring_1"/>
          <p:cNvSpPr/>
          <p:nvPr/>
        </p:nvSpPr>
        <p:spPr>
          <a:xfrm>
            <a:off x="13289661" y="3889308"/>
            <a:ext cx="205511" cy="91532"/>
          </a:xfrm>
          <a:custGeom>
            <a:avLst/>
            <a:gdLst/>
            <a:ahLst/>
            <a:cxnLst/>
            <a:rect l="l" t="t" r="r" b="b"/>
            <a:pathLst>
              <a:path w="205511" h="91532">
                <a:moveTo>
                  <a:pt x="0" y="42246"/>
                </a:moveTo>
                <a:lnTo>
                  <a:pt x="106299" y="0"/>
                </a:lnTo>
                <a:lnTo>
                  <a:pt x="205511" y="49287"/>
                </a:lnTo>
                <a:lnTo>
                  <a:pt x="99212" y="91532"/>
                </a:lnTo>
                <a:close/>
              </a:path>
            </a:pathLst>
          </a:custGeom>
          <a:noFill/>
          <a:ln w="10160">
            <a:solidFill>
              <a:srgbClr val="378E74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utput_Box_Ring_2"/>
          <p:cNvSpPr/>
          <p:nvPr/>
        </p:nvSpPr>
        <p:spPr>
          <a:xfrm>
            <a:off x="13289661" y="3776654"/>
            <a:ext cx="205511" cy="91532"/>
          </a:xfrm>
          <a:custGeom>
            <a:avLst/>
            <a:gdLst/>
            <a:ahLst/>
            <a:cxnLst/>
            <a:rect l="l" t="t" r="r" b="b"/>
            <a:pathLst>
              <a:path w="205511" h="91532">
                <a:moveTo>
                  <a:pt x="0" y="42246"/>
                </a:moveTo>
                <a:lnTo>
                  <a:pt x="106299" y="0"/>
                </a:lnTo>
                <a:lnTo>
                  <a:pt x="205511" y="49287"/>
                </a:lnTo>
                <a:lnTo>
                  <a:pt x="99212" y="91532"/>
                </a:lnTo>
                <a:close/>
              </a:path>
            </a:pathLst>
          </a:custGeom>
          <a:noFill/>
          <a:ln w="10160">
            <a:solidFill>
              <a:srgbClr val="378E74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Output_Box_Vertical_1"/>
          <p:cNvCxnSpPr/>
          <p:nvPr/>
        </p:nvCxnSpPr>
        <p:spPr>
          <a:xfrm flipV="1">
            <a:off x="13289661" y="3818900"/>
            <a:ext cx="0" cy="112654"/>
          </a:xfrm>
          <a:prstGeom prst="line">
            <a:avLst/>
          </a:prstGeom>
          <a:ln w="10160">
            <a:solidFill>
              <a:srgbClr val="378E7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Output_Box_Vertical_2"/>
          <p:cNvCxnSpPr/>
          <p:nvPr/>
        </p:nvCxnSpPr>
        <p:spPr>
          <a:xfrm flipV="1">
            <a:off x="13395960" y="3776654"/>
            <a:ext cx="0" cy="112654"/>
          </a:xfrm>
          <a:prstGeom prst="line">
            <a:avLst/>
          </a:prstGeom>
          <a:ln w="10160">
            <a:solidFill>
              <a:srgbClr val="378E7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Output_Box_Vertical_3"/>
          <p:cNvCxnSpPr/>
          <p:nvPr/>
        </p:nvCxnSpPr>
        <p:spPr>
          <a:xfrm flipV="1">
            <a:off x="13495172" y="3825941"/>
            <a:ext cx="0" cy="112654"/>
          </a:xfrm>
          <a:prstGeom prst="line">
            <a:avLst/>
          </a:prstGeom>
          <a:ln w="10160">
            <a:solidFill>
              <a:srgbClr val="378E7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Output_Box_Vertical_4"/>
          <p:cNvCxnSpPr/>
          <p:nvPr/>
        </p:nvCxnSpPr>
        <p:spPr>
          <a:xfrm flipV="1">
            <a:off x="13388873" y="3868186"/>
            <a:ext cx="0" cy="112654"/>
          </a:xfrm>
          <a:prstGeom prst="line">
            <a:avLst/>
          </a:prstGeom>
          <a:ln w="10160">
            <a:solidFill>
              <a:srgbClr val="378E74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utput_Note"/>
          <p:cNvSpPr txBox="1"/>
          <p:nvPr/>
        </p:nvSpPr>
        <p:spPr>
          <a:xfrm>
            <a:off x="12651867" y="4332884"/>
            <a:ext cx="1275588" cy="140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1">
                <a:solidFill>
                  <a:srgbClr val="687783"/>
                </a:solidFill>
                <a:latin typeface="Georgia"/>
              </a:rPr>
              <a:t>final visualization to be revised</a:t>
            </a:r>
          </a:p>
        </p:txBody>
      </p:sp>
      <p:cxnSp>
        <p:nvCxnSpPr>
          <p:cNvPr id="127" name="Footer_Rule"/>
          <p:cNvCxnSpPr/>
          <p:nvPr/>
        </p:nvCxnSpPr>
        <p:spPr>
          <a:xfrm>
            <a:off x="356616" y="5881878"/>
            <a:ext cx="14740127" cy="0"/>
          </a:xfrm>
          <a:prstGeom prst="line">
            <a:avLst/>
          </a:prstGeom>
          <a:ln w="10160">
            <a:solidFill>
              <a:srgbClr val="D9E2E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Footer_Data_Provenance"/>
          <p:cNvSpPr txBox="1"/>
          <p:nvPr/>
        </p:nvSpPr>
        <p:spPr>
          <a:xfrm>
            <a:off x="356616" y="6015654"/>
            <a:ext cx="14527530" cy="140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40" b="0" i="0">
                <a:solidFill>
                  <a:srgbClr val="263746"/>
                </a:solidFill>
                <a:latin typeface="Georgia"/>
              </a:rPr>
              <a:t>Real paired data: K-Radar 5/00240 · paired random selection, seed 42 · linear-power mean projections. Every visible cube surface uses the same colormap and display-normalization rule.</a:t>
            </a:r>
          </a:p>
        </p:txBody>
      </p:sp>
      <p:sp>
        <p:nvSpPr>
          <p:cNvPr id="129" name="Footer_Surface_Key"/>
          <p:cNvSpPr txBox="1"/>
          <p:nvPr/>
        </p:nvSpPr>
        <p:spPr>
          <a:xfrm>
            <a:off x="356616" y="6212799"/>
            <a:ext cx="14527530" cy="140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10" b="0" i="1">
                <a:solidFill>
                  <a:srgbClr val="687783"/>
                </a:solidFill>
                <a:latin typeface="Georgia"/>
              </a:rPr>
              <a:t>RAD surfaces: RA front · RD side · AD top. RAE surfaces: RA front · RE side · AE top. Four-axis glyph adapted from 4DR P2T Fig. 2; artwork is original.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Overall RADE dual-view processing and detection</dc:title>
  <dc:subject>Editable Model7 radar architecture overview</dc:subject>
  <dc:creator/>
  <cp:keywords/>
  <dc:description>Native PowerPoint geometry; measured radar surfaces are separate raster picture objects.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